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06B6D4"/>
                </a:solidFill>
              </a:defRPr>
            </a:pPr>
            <a:r>
              <a:t>Supervision des antennes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Plateforme SIG — Gouvernorat de Mahdia</a:t>
            </a:r>
          </a:p>
          <a:p>
            <a:r>
              <a:t>PFE — Tunisie Telecom</a:t>
            </a:r>
          </a:p>
          <a:p>
            <a:r>
              <a:t>Auteur : Malek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Contexte et 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>
                <a:solidFill>
                  <a:srgbClr val="505A6E"/>
                </a:solidFill>
              </a:defRPr>
            </a:pPr>
            <a:r>
              <a:t>Problème : centraliser l’information pour la supervision du réseau.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Superviser l’état des antennes (température, CPU, signal, trafic, statut).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Offrir cartographie, indicateurs, alertes et analyse (détection d’anomalies).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S’appuyer sur des standards SIG : PostGIS, GeoServer, catalogue de métadonnées.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Démontrer une chaîne complète : données → API → dashboard → outils métiers.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Architecture globale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>
                <a:solidFill>
                  <a:srgbClr val="505A6E"/>
                </a:solidFill>
              </a:defRPr>
            </a:pPr>
            <a:r>
              <a:t>Découplage : la base alimente plusieurs consommateurs (API, Grafana, SIG).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PostgreSQL / PostGIS : stockage des antennes et des mesures temporelles.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API Flask (Python) : REST JSON — stats, liste antennes, alertes, prédiction ML.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Dashboard React + nginx : interface web principale (port 3000).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GeoServer, GeoNetwork, Grafana : publication cartographique, catalogue, tableaux de bord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Stack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Backend &amp; données</a:t>
            </a:r>
          </a:p>
          <a:p>
            <a:pPr>
              <a:spcAft>
                <a:spcPts val="600"/>
              </a:spcAft>
              <a:defRPr sz="1500"/>
            </a:pPr>
            <a:r>
              <a:t>PostGIS 15, Python 3, Flask</a:t>
            </a:r>
          </a:p>
          <a:p>
            <a:pPr>
              <a:spcAft>
                <a:spcPts val="600"/>
              </a:spcAft>
              <a:defRPr sz="1500"/>
            </a:pPr>
            <a:r>
              <a:t>psycopg2, pandas</a:t>
            </a:r>
          </a:p>
          <a:p>
            <a:pPr>
              <a:spcAft>
                <a:spcPts val="600"/>
              </a:spcAft>
              <a:defRPr sz="1500"/>
            </a:pPr>
            <a:r>
              <a:t>scikit-learn (Isolation Forest)</a:t>
            </a:r>
          </a:p>
          <a:p>
            <a:pPr>
              <a:spcAft>
                <a:spcPts val="600"/>
              </a:spcAft>
              <a:defRPr sz="1500"/>
            </a:pPr>
            <a:r>
              <a:t>Jeton signé (auth démo)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280160"/>
            <a:ext cx="39319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6B6D4"/>
                </a:solidFill>
              </a:defRPr>
            </a:pPr>
            <a:r>
              <a:t>Frontend &amp; Ops</a:t>
            </a:r>
          </a:p>
          <a:p>
            <a:pPr>
              <a:spcAft>
                <a:spcPts val="600"/>
              </a:spcAft>
              <a:defRPr sz="1500"/>
            </a:pPr>
            <a:r>
              <a:t>React, React Router</a:t>
            </a:r>
          </a:p>
          <a:p>
            <a:pPr>
              <a:spcAft>
                <a:spcPts val="600"/>
              </a:spcAft>
              <a:defRPr sz="1500"/>
            </a:pPr>
            <a:r>
              <a:t>nginx (build statique)</a:t>
            </a:r>
          </a:p>
          <a:p>
            <a:pPr>
              <a:spcAft>
                <a:spcPts val="600"/>
              </a:spcAft>
              <a:defRPr sz="1500"/>
            </a:pPr>
            <a:r>
              <a:t>Docker Compose</a:t>
            </a:r>
          </a:p>
          <a:p>
            <a:pPr>
              <a:spcAft>
                <a:spcPts val="600"/>
              </a:spcAft>
              <a:defRPr sz="1500"/>
            </a:pPr>
            <a:r>
              <a:t>Grafana 10 (prometheus non utilisé : SQL direct)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Modèle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Table antennes : nom, zone, type, coordonnées, géométrie (SRID 4326).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Table mesures : séries temporelles par antenne ; statut dérivé (normal / alerte / critique).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Vue antennes_statut : dernière mesure par antenne → API et Grafana.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Vue antennes_geo : dernière mesure + geom → GeoServer / carte.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API REST (Flask)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GET /stats — agrégats (totaux, zones, répartition par statut).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GET /antennes — détail avec dernière mesure et position.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GET /alerts — antennes en alerte ou critique.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GET /predict — anomalies spatiales (Isolation Forest sur lat/lon).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POST /auth/login, GET /auth/me — trois rôles : administrateur, modérateur, utilisateur.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Application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Connexion puis navigation selon le rôle (pages dédiées admin / modération).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Tableau de bord : KPI, alertes, rafraîchissement ~ 5 s (polling).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Carte réseau, liste équipements, page analytique (ML).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Liens rapides vers GeoNetwork, GeoServer, Grafana.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Services SIG et supervision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GeoServer (8081) : couches WMS/WFS à partir des vues PostGIS.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GeoNetwork (8080/geonetwork/) : catalogue de métadonnées (Elasticsearch en soutien).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Grafana (3001) : datasource PostgreSQL provisionnée, dashboard « Supervision Antennes 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Simulation et « temps réel 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>
                <a:solidFill>
                  <a:srgbClr val="505A6E"/>
                </a:solidFill>
              </a:defRPr>
            </a:pPr>
            <a:r>
              <a:t>Les données sont simulées pour valider la plateforme (pas de SNMP opérateur).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Scripts Python (dossier simulation) : génération d’antennes et de mesures.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Option : boucle périodique pour renouveler les mesures (démonstration).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Côté navigateur : pas de WebSocket — interrogation API toutes les 5 secondes.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Déploiement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docker compose up -d : réseau sig_net entre les services.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Volumes persistants pour PostgreSQL, GeoServer, Grafana, etc.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Healthchecks : démarrage ordonné (ex. PostgreSQL avant les dépendants).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Limites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Authentification de démonstration — à remplacer par SSO / LDAP en production.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Modèle ML simple — enrichir les features et la validation métier.</a:t>
            </a:r>
          </a:p>
          <a:p>
            <a:pPr>
              <a:spcAft>
                <a:spcPts val="800"/>
              </a:spcAft>
              <a:defRPr sz="1800">
                <a:solidFill>
                  <a:srgbClr val="1E293B"/>
                </a:solidFill>
              </a:defRPr>
            </a:pPr>
            <a:r>
              <a:t>Flux temps réel « industriel » : bus de messages, alerting opérationnel.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06B6D4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